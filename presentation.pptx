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126480"/>
            <a:ext cx="10698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НИУ ВШЭ · Факультет компьютерных наук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Магистерская диссертация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Генерация коллективных музыкальных</a:t>
            </a:r>
            <a:endParaRPr lang="en-US" sz="3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рекомендаций для эфемерных групп</a:t>
            </a:r>
            <a:endParaRPr lang="en-US" sz="3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методами машинного обучения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Авторы: </a:t>
            </a:r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Елисеев Г. М., Паламарчук В. М., Рубцов А.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Научные руководители: </a:t>
            </a:r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Еременко Д. И., Паточенко Е. А.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Постановка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рекомендации музыки · YAMBDA · ВКР НИУ ВШЭ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Посетители кафе, баров, фитнес-клубов и участники мероприятий собираются вместе на короткое время и нуждаются в общей музыкальной подборке. Это «эфемерные» группы — состав случайный, истории совместного прослушивания нет.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групповой плейлист Rec_K(G), который учитывает вкусы всех участников группы G = {u₁, …, uₘ} и максимизирует NDCG@K по их объединённым предпочтениям.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371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ДВУХУРОВНЕВАЯ СХЕМА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737360"/>
            <a:ext cx="4937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Персональный скорер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SASRec по индивидуальной истории прослушиваний u → оценка релевантности ŝ(u, i) каждого трека i. Обучается один раз и замораживается.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0" y="3246120"/>
            <a:ext cx="0" cy="32004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75120" y="3657600"/>
            <a:ext cx="4937760" cy="1463040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Групповой агрегатор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41605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Обучаемая надстройка 𝒜 поверх замороженных скоров: ŝ(G, i) = 𝒜({ŝ(u, i)}, контекст).  Это блок, на котором фокусируется работа.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5257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two-stage retrieval → rerank: фиксированный сильный ранжировщик + лёгкая агрегационная надстройка.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 существующих методов агрегации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рекомендации музыки · YAMBDA · ВКР НИУ ВШЭ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438912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Огр-ние в нашем сетапе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(AVG)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необуч.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персональных скоров по членам группы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различает «влиятельных» членов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Misery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необуч.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Минимум — защита наименее довольного участника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Жертвует общим качеством списка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Pleasure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необуч.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Максимум — подчиняет список «лидеру» группы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Игнорирует остальных членов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 (SIGIR'18)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поверх ID-эмбеддингов пользователей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ID-сигнал деградирует на хвосте каталога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GroupIM (SIGIR'20)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+ MI-регуляризация для эфемерных групп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Item-agnostic; тот же ID-сигнал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AlignGroup (CIKM'24)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Гиперграф + alignment-loss на persistent-группах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Несовместим с эфемерным сетапом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для эфемерных групп на YAMBDA берём AGREE и GroupIM как ID-бейзлайны; AlignGroup отбрасываем — нет пересекающихся составов групп и нужна разморозка скорера.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Датасет YAMBDA-50m (Yandex Music, 2025)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рекомендации музыки · YAMBDA · ВКР НИУ ВШЭ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4,79 млрд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5176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 в полном датасете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млн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5176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 во flavor 50m (наш срез)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~9,2 тыс.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уникальных пользователей после фильтрации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276 тыс.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треков (min_pop ≥ 5)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d_a = 128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5176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размерность аудиоэмбеддингов (95,85% покрытие)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Важная особенность: flavor = число событий, а не пользователей. Медиана истории — ~1 760 прослушиваний.</a:t>
            </a:r>
            <a:endParaRPr lang="en-US" sz="1100" dirty="0"/>
          </a:p>
        </p:txBody>
      </p:sp>
      <p:pic>
        <p:nvPicPr>
          <p:cNvPr id="17" name="Image 0" descr="Распределение длины пользовательских историй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371600"/>
            <a:ext cx="5669280" cy="280949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26480" y="422681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длины историй пользователей (log y)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Архитектура: персональный скорер SASRec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рекомендации музыки · YAMBDA · ВКР НИУ ВШЭ</a:t>
            </a:r>
            <a:endParaRPr lang="en-US" sz="900" dirty="0"/>
          </a:p>
        </p:txBody>
      </p:sp>
      <p:pic>
        <p:nvPicPr>
          <p:cNvPr id="6" name="Image 0" descr="Схема SASRe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669280" cy="32043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6741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SASRec — каузальный self-attention над последовательностью прослушиваний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675120" y="1371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0" y="16916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hidden_dim = 64,  n_heads = 2,  n_layers =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max_seq_len = 200,  dropout = 0.2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loss: plain BCE,  n_neg = 1,  uniform sampling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Adam, lr = 10⁻³,  batch = 256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3108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SETUP-GAP И ВОСПРОИЗВЕДЕНИЕ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429000"/>
          <a:ext cx="49377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Исходный конфиг (gBCE, popularity)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plain BCE, n_neg = 1, uniform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снятие маски истории при ранжировании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Yandex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675120" y="5669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находка: в музыке НЕЛЬЗЯ маскировать историю при ранжировании. Снятие маски даёт ×3,2 NDCG@10 и закрывает разрыв с Yandex.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Архитектура: audio-aware агрегаторы (наш вклад)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рекомендации музыки · YAMBDA · ВКР НИУ ВШЭ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960120"/>
          </a:xfrm>
          <a:prstGeom prst="rect">
            <a:avLst/>
          </a:prstGeom>
          <a:solidFill>
            <a:srgbClr val="E8E8E8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Идея.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 обучаемые ID-эмбеддинги пользователей и треков в attention-агрегаторе на аудиоэмбеддинги YAMBDA.  Аудиосигнал доступен для любого трека по построению и не деградирует на хвосте каталога.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492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14600"/>
            <a:ext cx="5349240" cy="502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146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Audio-AGREE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ID → audio ablation поверх AGREE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4983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α(u, i) = softmax_u  φ_ψ([ā_u ‖ a_i])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ā_u  — аудиопрофиль пользователя (среднее аудиоэмбеддингов из его истории)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a_i  — аудиоэмбеддинг трека-кандидата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Однопроекционный MLP-логит. Инженерно простой вариант.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514600"/>
            <a:ext cx="53492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514600"/>
            <a:ext cx="5349240" cy="502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5146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Cross-Attention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108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Многоголовое cross-attention над членами группы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3429000"/>
            <a:ext cx="4983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a_i,    K, V = { ā_u : u ∈ G 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 a_i — query; аудиопрофили членов — keys / values.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голов dot-product attention — естественное обобщение Audio-AGREE.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Контракт: ŝ(G, i) = Σ_u α(u, i) · ŝ(u, i) — выпуклая комбинация.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Сравнительный анализ: 2 000 test-групп, NDCG@K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рекомендации музыки · YAMBDA · ВКР НИУ ВШЭ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914400"/>
                <a:gridCol w="1097280"/>
                <a:gridCol w="1691640"/>
                <a:gridCol w="1097280"/>
                <a:gridCol w="1691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95 %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95 %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Cross-Attention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[0,0833; 0,1008]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[0,0939; 0,1114]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Audio-AGREE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[0,0823; 0,0990]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[0,0934; 0,1097]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Pleasure (MP)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необуч.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[0,0755; 0,0895]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[0,0843; 0,0983]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[0,0739; 0,0885]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[0,0844; 0,0983]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[0,0718; 0,0860]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[0,0829; 0,0970]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(AVG)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необуч.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[0,0632; 0,0754]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[0,0758; 0,0877]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Misery (LM)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необуч.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[0,0275; 0,0351]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[0,0326; 0,0400]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12080"/>
            <a:ext cx="110642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bootstrap audio vs ID: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все 8 проверенных пар (Audio-AGREE / GroupCrossAttn × AGREE / GroupIM × K ∈ {10, 20}) значимо положительны, p ≤ 0,005. CI не пересекает 0.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Относительный выигрыш audio над ID ≈ 12–16 % NDCG@10.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Дополнительные результаты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рекомендации музыки · YAMBDA · ВКР НИУ ВШЭ</a:t>
            </a:r>
            <a:endParaRPr lang="en-US" sz="900" dirty="0"/>
          </a:p>
        </p:txBody>
      </p:sp>
      <p:pic>
        <p:nvPicPr>
          <p:cNvPr id="6" name="Image 0" descr="NDCG по размеру групп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669280" cy="3307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78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в зависимости от размера группы |G|</a:t>
            </a:r>
            <a:endParaRPr lang="en-US" sz="900" dirty="0"/>
          </a:p>
        </p:txBody>
      </p:sp>
      <p:pic>
        <p:nvPicPr>
          <p:cNvPr id="8" name="Image 1" descr="Forest plot paired bootstr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120640" cy="2926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plot: paired bootstrap audio − ID (Δ NDCG, 95 % CI)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5090160"/>
            <a:ext cx="110642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5181600"/>
            <a:ext cx="274320" cy="2743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518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60120" y="5163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|G| = 2 все методы плотно сбиты — задача структурно простая.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5547360"/>
            <a:ext cx="274320" cy="2743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554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60120" y="55290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|G| ≥ 3 ID и MP стагнируют, audio-методы держат +17–18 %: чем больше группа, тем важнее качество attention-сигнала.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5913120"/>
            <a:ext cx="274320" cy="2743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591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60120" y="58948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8 paired-разностей audio − ID лежат строго правее нуля → H1 подтверждена.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 по эксперименту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рекомендации музыки · YAMBDA · ВКР НИУ ВШЭ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85800" cy="9601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Гипотеза H1 подтверждена: audio &gt; 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Audio-aware агрегаторы устойчиво обходят ID-бейзлайны во всех 8 paired-сравнениях, Δ ≈ +0,011 NDCG@10 (12–16 % относительно), p ≤ 0,005.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685800" cy="9601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463040" y="26060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Setup-gap закрыт на персональном уровне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SASRec воспроизведён на YAMBDA: NDCG@10 = 0,0726 (Yandex baseline 0,0742). Главная доменная находка — в музыке нельзя маскировать историю при ранжировании; снятие маски даёт ×3,2 прироста.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685800" cy="9601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4904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463040" y="37947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Структурное плато ID-сигнала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≈ GroupIM (до 4-го знака) и оба уступают тривиальному Max Pleasure. ID-attention поверх замороженного скорера не даёт сигнала сверх тривиального максимума.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685800" cy="9601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3776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463040" y="49834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Audio-AGREE и GroupCrossAttn статистически неразличимы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53949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Конкретная аудио-архитектура не критична — важен сам факт замены ID на содержательный аудиосигнал. Audio-AGREE проще, GroupCrossAttn теоретически согласованнее с трансформерной литературой.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Направления развития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рекомендации музыки · YAMBDA · ВКР НИУ ВШЭ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fine-tune скорера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Совместное обучение SASRec и аудио-агрегатора (lr_scorer = 10⁻⁵) с KD-регуляризацией на solo-user тесте против catastrophic forgetting. Гипотеза H2: gap audio &gt; ID расширится.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73152" cy="1463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YAMBDA-500m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1783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Десятикратный рост пользователей и каталога — надёжная различимость архитектурных вариантов audio-семейства, cold-start срез, гомогенные/гетерогенные подвыборки.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17520"/>
            <a:ext cx="73152" cy="1463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Метрики справедливости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520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Jain@K, Disagreement@K, DFH@K на готовом per-sample наборе скоров. Гипотеза: позиция Least Misery улучшится; audio vs ID может обнаружить дополнительные различия.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017520"/>
            <a:ext cx="73152" cy="1463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Cold-start срез по редким трекам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3520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Подвыборка I_cold = {i : count(i) ≤ n_cold}. Ожидаемая гипотеза: преимущество audio растёт с долей редких треков (ID-эмбеддинги недоинформативны на хвосте).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754880"/>
            <a:ext cx="73152" cy="1463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Поведенческая валидация аудиоэмбеддингов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Зонды: ко-встречаемость в сессиях, k-means кластеры vs track-id-co-occurrence (MI), стабильность ā_u во времени. Методологический фундамент под аргумент «audio &gt; ID».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75488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754880"/>
            <a:ext cx="73152" cy="1463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BLE-демо как продакшен-канал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5257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Android-приложение определяет состав эфемерной группы по силе BLE-сигнала в зоне заведения и динамически обновляет вход агрегатора в реальном времени.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97280" y="219456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5204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ответить на вопросы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51206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Репозиторий: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github.com/Vladislavbro/music-recommendations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Артефакты: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 · Vladislavbro-500/music-recommendations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Групповые музыкальные рекомендации на YAMBDA</dc:title>
  <dc:subject>PptxGenJS Presentation</dc:subject>
  <dc:creator>Елисеев, Паламарчук, Рубцов</dc:creator>
  <cp:lastModifiedBy>Елисеев, Паламарчук, Рубцов</cp:lastModifiedBy>
  <cp:revision>1</cp:revision>
  <dcterms:created xsi:type="dcterms:W3CDTF">2026-05-15T20:12:17Z</dcterms:created>
  <dcterms:modified xsi:type="dcterms:W3CDTF">2026-05-15T20:12:17Z</dcterms:modified>
</cp:coreProperties>
</file>